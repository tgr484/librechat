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  <p:sldMasterId id="2147483677" r:id="rId2"/>
    <p:sldMasterId id="2147483682" r:id="rId3"/>
    <p:sldMasterId id="2147483690" r:id="rId4"/>
  </p:sldMasterIdLst>
  <p:notesMasterIdLst>
    <p:notesMasterId r:id="rId14"/>
  </p:notesMasterIdLst>
  <p:handoutMasterIdLst>
    <p:handoutMasterId r:id="rId15"/>
  </p:handoutMasterIdLst>
  <p:sldIdLst>
    <p:sldId id="385" r:id="rId5"/>
    <p:sldId id="387" r:id="rId6"/>
    <p:sldId id="386" r:id="rId7"/>
    <p:sldId id="320" r:id="rId8"/>
    <p:sldId id="397" r:id="rId9"/>
    <p:sldId id="340" r:id="rId10"/>
    <p:sldId id="398" r:id="rId11"/>
    <p:sldId id="400" r:id="rId12"/>
    <p:sldId id="353" r:id="rId13"/>
  </p:sldIdLst>
  <p:sldSz cx="9144000" cy="5143500" type="screen16x9"/>
  <p:notesSz cx="6805613" cy="99441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389626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779252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168878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558503" algn="l" rtl="0" fontAlgn="base">
      <a:spcBef>
        <a:spcPct val="0"/>
      </a:spcBef>
      <a:spcAft>
        <a:spcPct val="0"/>
      </a:spcAft>
      <a:defRPr sz="7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1948129" algn="l" defTabSz="779252" rtl="0" eaLnBrk="1" latinLnBrk="0" hangingPunct="1">
      <a:defRPr sz="72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337755" algn="l" defTabSz="779252" rtl="0" eaLnBrk="1" latinLnBrk="0" hangingPunct="1">
      <a:defRPr sz="72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2727381" algn="l" defTabSz="779252" rtl="0" eaLnBrk="1" latinLnBrk="0" hangingPunct="1">
      <a:defRPr sz="72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117007" algn="l" defTabSz="779252" rtl="0" eaLnBrk="1" latinLnBrk="0" hangingPunct="1">
      <a:defRPr sz="72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Конструктор" id="{B4C091BA-C63F-40B3-83CD-BE8C6D93E836}">
          <p14:sldIdLst/>
        </p14:section>
        <p14:section name="Инициирование_шаблон" id="{9B4E42EF-DC09-4BB2-84D1-CECB6BA5C055}">
          <p14:sldIdLst>
            <p14:sldId id="385"/>
            <p14:sldId id="387"/>
            <p14:sldId id="386"/>
            <p14:sldId id="320"/>
            <p14:sldId id="397"/>
            <p14:sldId id="340"/>
            <p14:sldId id="398"/>
            <p14:sldId id="400"/>
            <p14:sldId id="3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3162">
          <p15:clr>
            <a:srgbClr val="A4A3A4"/>
          </p15:clr>
        </p15:guide>
        <p15:guide id="3" orient="horz" pos="531">
          <p15:clr>
            <a:srgbClr val="A4A3A4"/>
          </p15:clr>
        </p15:guide>
        <p15:guide id="4" pos="2880">
          <p15:clr>
            <a:srgbClr val="A4A3A4"/>
          </p15:clr>
        </p15:guide>
        <p15:guide id="5" pos="5692">
          <p15:clr>
            <a:srgbClr val="A4A3A4"/>
          </p15:clr>
        </p15:guide>
        <p15:guide id="6" pos="68">
          <p15:clr>
            <a:srgbClr val="A4A3A4"/>
          </p15:clr>
        </p15:guide>
        <p15:guide id="7" pos="340">
          <p15:clr>
            <a:srgbClr val="A4A3A4"/>
          </p15:clr>
        </p15:guide>
        <p15:guide id="8" pos="2789">
          <p15:clr>
            <a:srgbClr val="A4A3A4"/>
          </p15:clr>
        </p15:guide>
        <p15:guide id="9" pos="29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Харитонова Елена Юрьевна" initials="ХЕЮ" lastIdx="1" clrIdx="0">
    <p:extLst>
      <p:ext uri="{19B8F6BF-5375-455C-9EA6-DF929625EA0E}">
        <p15:presenceInfo xmlns:p15="http://schemas.microsoft.com/office/powerpoint/2012/main" userId="S-1-5-21-2950832418-2341634981-4040681116-1088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E161"/>
    <a:srgbClr val="FED208"/>
    <a:srgbClr val="C20937"/>
    <a:srgbClr val="F6D7A2"/>
    <a:srgbClr val="F9BD27"/>
    <a:srgbClr val="FA9D10"/>
    <a:srgbClr val="EF6B01"/>
    <a:srgbClr val="F6D106"/>
    <a:srgbClr val="3D4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426" autoAdjust="0"/>
  </p:normalViewPr>
  <p:slideViewPr>
    <p:cSldViewPr>
      <p:cViewPr varScale="1">
        <p:scale>
          <a:sx n="151" d="100"/>
          <a:sy n="151" d="100"/>
        </p:scale>
        <p:origin x="2142" y="138"/>
      </p:cViewPr>
      <p:guideLst>
        <p:guide orient="horz" pos="1620"/>
        <p:guide orient="horz" pos="3162"/>
        <p:guide orient="horz" pos="531"/>
        <p:guide pos="2880"/>
        <p:guide pos="5692"/>
        <p:guide pos="68"/>
        <p:guide pos="340"/>
        <p:guide pos="2789"/>
        <p:guide pos="2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939" y="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169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939" y="9445169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048B322-7196-490E-86EB-BC0391C8D3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59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0EF9833D-5B38-4037-B8AA-0F69A0060D41}" type="datetimeFigureOut">
              <a:rPr lang="ru-RU"/>
              <a:pPr>
                <a:defRPr/>
              </a:pPr>
              <a:t>18.09.2026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7EFA82E-D45C-4223-B7CB-47D5D1E6D9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798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9626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9252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8878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850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i="0" dirty="0">
                <a:solidFill>
                  <a:schemeClr val="tx1"/>
                </a:solidFill>
              </a:rPr>
              <a:t>Настоящий</a:t>
            </a:r>
            <a:r>
              <a:rPr lang="ru-RU" sz="1000" i="0" baseline="0" dirty="0">
                <a:solidFill>
                  <a:schemeClr val="tx1"/>
                </a:solidFill>
              </a:rPr>
              <a:t> титульный слайд для вынесения вопроса на совместное заседание двух Секций НТС.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1000" i="0" dirty="0">
              <a:solidFill>
                <a:srgbClr val="C00000"/>
              </a:solidFill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80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i="0" dirty="0">
                <a:solidFill>
                  <a:schemeClr val="tx1"/>
                </a:solidFill>
              </a:rPr>
              <a:t>Т</a:t>
            </a:r>
            <a:r>
              <a:rPr lang="ru-RU" sz="1000" i="0" baseline="0" dirty="0">
                <a:solidFill>
                  <a:schemeClr val="tx1"/>
                </a:solidFill>
              </a:rPr>
              <a:t>итульный слайд для вынесения вопроса на рассмотрение Секции по технологиям разведки и добычи нефти и газа НТС.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12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i="0" dirty="0">
                <a:solidFill>
                  <a:schemeClr val="tx1"/>
                </a:solidFill>
              </a:rPr>
              <a:t>Т</a:t>
            </a:r>
            <a:r>
              <a:rPr lang="ru-RU" sz="1000" i="0" baseline="0" dirty="0">
                <a:solidFill>
                  <a:schemeClr val="tx1"/>
                </a:solidFill>
              </a:rPr>
              <a:t>итульный слайд для вынесения вопроса на рассмотрение Секции по технологиям переработки нефти и газа и нефтегазохимии НТС.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44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731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b="1" baseline="0" dirty="0" smtClean="0"/>
              <a:t>ВАЖНО:</a:t>
            </a:r>
            <a:r>
              <a:rPr lang="ru-RU" baseline="0" dirty="0" smtClean="0"/>
              <a:t> слайд по содержанию не должен дублировать слайд «Сравнение с аналогами».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aseline="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При </a:t>
            </a:r>
            <a:r>
              <a:rPr lang="ru-RU" baseline="0" dirty="0"/>
              <a:t>инициировании </a:t>
            </a:r>
            <a:r>
              <a:rPr lang="ru-RU" b="1" baseline="0" dirty="0"/>
              <a:t>ЦИП</a:t>
            </a:r>
            <a:r>
              <a:rPr lang="ru-RU" baseline="0" dirty="0"/>
              <a:t> на слайде необходимо отразить как планируемые к созданию решения соотносятся с проводимыми в мире исследованиями и разработками: что уже имеется на рынке, что доступно/недоступно, какие наблюдаются тенденции в работах, какой прогноз развития/совершенствования существующих аналогов, либо появления новых и т.п. Если степень неопределенности по данному вопросу высокая, следует дать соответствующий комментарий и уточнить на какой стадии проекта информация будет максимально уточнена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/>
              <a:t>При инициировании </a:t>
            </a:r>
            <a:r>
              <a:rPr lang="ru-RU" b="1" baseline="0" dirty="0"/>
              <a:t>дополнительных работ </a:t>
            </a:r>
            <a:r>
              <a:rPr lang="ru-RU" baseline="0" dirty="0"/>
              <a:t>в рамках уже реализующегося ЦИП, на слайде необходимо отразить как выполнение этих работ повлияет на место ожидаемых результатов по проекту относительно проводимых в мире </a:t>
            </a:r>
            <a:r>
              <a:rPr lang="ru-RU" baseline="0" dirty="0" smtClean="0"/>
              <a:t>разработок.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172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инициировании </a:t>
            </a:r>
            <a:r>
              <a:rPr lang="ru-RU" b="1" dirty="0"/>
              <a:t>ЦИП</a:t>
            </a:r>
            <a:r>
              <a:rPr lang="ru-RU" dirty="0"/>
              <a:t> слайд заполняется применительно к ЦИП в целом.</a:t>
            </a:r>
          </a:p>
          <a:p>
            <a:r>
              <a:rPr lang="ru-RU" dirty="0"/>
              <a:t>В случае одобрения </a:t>
            </a:r>
            <a:r>
              <a:rPr lang="ru-RU" b="1" dirty="0"/>
              <a:t>дополнительных</a:t>
            </a:r>
            <a:r>
              <a:rPr lang="ru-RU" b="1" baseline="0" dirty="0"/>
              <a:t> работ</a:t>
            </a:r>
            <a:r>
              <a:rPr lang="ru-RU" baseline="0" dirty="0"/>
              <a:t> содержание слайда должно отражать инициируемые работы. Заголовок должен быть скорректирован как указано выше</a:t>
            </a:r>
            <a:endParaRPr 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Необходимо указать конкретные СП и/или ОГ Компании, в которых планируется внедрение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2. Описать эффект, который ожидается получить в результате внедрения результата ЦИП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778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инициировании </a:t>
            </a:r>
            <a:r>
              <a:rPr lang="ru-RU" b="1" dirty="0"/>
              <a:t>ЦИП </a:t>
            </a:r>
            <a:r>
              <a:rPr lang="ru-RU" dirty="0"/>
              <a:t>слайд заполняется применительно к ЦИП в целом.</a:t>
            </a:r>
          </a:p>
          <a:p>
            <a:endParaRPr lang="ru-RU" dirty="0"/>
          </a:p>
          <a:p>
            <a:r>
              <a:rPr lang="ru-RU" dirty="0"/>
              <a:t>В случае одобрения </a:t>
            </a:r>
            <a:r>
              <a:rPr lang="ru-RU" b="1" dirty="0"/>
              <a:t>дополнительных</a:t>
            </a:r>
            <a:r>
              <a:rPr lang="ru-RU" b="1" baseline="0" dirty="0"/>
              <a:t> работ </a:t>
            </a:r>
            <a:r>
              <a:rPr lang="ru-RU" baseline="0" dirty="0"/>
              <a:t>по уже реализующемуся ЦИП, на слайде должно быть показано влияют ли ожидаемые результаты инициируемых работ на анализ рынка, который был представлен при инициировании проекта, и, если да, то каким образом,.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47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необходимо представить анализ вариантов</a:t>
            </a:r>
            <a:r>
              <a:rPr lang="ru-RU" baseline="0" dirty="0"/>
              <a:t> решения заявленной проблемы, альтернативных реализации ЦИП и, на основе анализа, сделать вывод о целесообразности/нецелесообразности реализации ЦИП.</a:t>
            </a:r>
          </a:p>
          <a:p>
            <a:endParaRPr lang="ru-RU" baseline="0" dirty="0"/>
          </a:p>
          <a:p>
            <a:r>
              <a:rPr lang="ru-RU" dirty="0"/>
              <a:t>При инициировании </a:t>
            </a:r>
            <a:r>
              <a:rPr lang="ru-RU" b="1" dirty="0"/>
              <a:t>ЦИП</a:t>
            </a:r>
            <a:r>
              <a:rPr lang="ru-RU" b="1" baseline="0" dirty="0"/>
              <a:t> </a:t>
            </a:r>
            <a:r>
              <a:rPr lang="ru-RU" dirty="0"/>
              <a:t>слайд заполняется применительно к ЦИП в целом.</a:t>
            </a:r>
          </a:p>
          <a:p>
            <a:endParaRPr lang="ru-RU" dirty="0"/>
          </a:p>
          <a:p>
            <a:r>
              <a:rPr lang="ru-RU" dirty="0"/>
              <a:t>В случае одобрения </a:t>
            </a:r>
            <a:r>
              <a:rPr lang="ru-RU" b="1" dirty="0"/>
              <a:t>дополнительных</a:t>
            </a:r>
            <a:r>
              <a:rPr lang="ru-RU" b="1" baseline="0" dirty="0"/>
              <a:t> работ </a:t>
            </a:r>
            <a:r>
              <a:rPr lang="ru-RU" baseline="0" dirty="0"/>
              <a:t>по реализующемуся проекту анализ альтернативных вариантов должен быть проведен применительно к инициируемым работам.</a:t>
            </a:r>
            <a:endParaRPr lang="ru-RU" dirty="0"/>
          </a:p>
          <a:p>
            <a:r>
              <a:rPr lang="ru-RU" dirty="0"/>
              <a:t>1. Данный столбец только для случая инициирования </a:t>
            </a:r>
            <a:r>
              <a:rPr lang="ru-RU" b="1" dirty="0"/>
              <a:t>дополнительных работ </a:t>
            </a:r>
            <a:r>
              <a:rPr lang="ru-RU" b="0" dirty="0"/>
              <a:t>(в остальных случаях </a:t>
            </a:r>
            <a:r>
              <a:rPr lang="ru-RU" b="0"/>
              <a:t>его следует удалить)</a:t>
            </a:r>
            <a:r>
              <a:rPr lang="ru-RU"/>
              <a:t>. </a:t>
            </a:r>
            <a:r>
              <a:rPr lang="ru-RU" dirty="0"/>
              <a:t>В столбце необходимо отразить изменения, произошедшие с момента инициирования</a:t>
            </a:r>
            <a:r>
              <a:rPr lang="ru-RU" baseline="0" dirty="0"/>
              <a:t> ЦИП.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инициировании </a:t>
            </a:r>
            <a:r>
              <a:rPr lang="ru-RU" sz="1000" b="1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ЦИП</a:t>
            </a: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слайде должны быть </a:t>
            </a:r>
            <a:r>
              <a:rPr lang="ru-RU" sz="1000" i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представлены: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ru-RU" sz="1000" i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ru-RU" sz="1000" i="0" baseline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планируемым стадиям проекта</a:t>
            </a: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на которые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планируется заключать договоры</a:t>
            </a:r>
            <a:r>
              <a:rPr lang="ru-RU" sz="1000" i="0" baseline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Представление 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 сразу по всем стадиям НЕ является обязательным, допустимо представить только те стадии, по которым есть достаточное понимание условий реализации</a:t>
            </a:r>
            <a:r>
              <a:rPr lang="ru-RU" sz="1000" i="0" baseline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Обязательным 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минимумом является представление на слайде условий планируемого первоочередного договора – в таком случае в заголовке следует уточнить к какой стадии он относится, из таблицы исключить строки по стадиям, которые не будут </a:t>
            </a:r>
            <a:r>
              <a:rPr lang="ru-RU" sz="1000" i="0" baseline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представлены;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ru-RU" sz="1000" i="0" baseline="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случае если по проекту планируется несколько «веток» работ, желательно представить этапы работ для каждой из них (при необходимости можно добавить дополнительные слайды).</a:t>
            </a:r>
            <a:endParaRPr lang="ru-RU" sz="1000" i="0" baseline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1000" i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случае инициирования </a:t>
            </a:r>
            <a:r>
              <a:rPr lang="ru-RU" sz="1000" b="1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дополнительных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работ – на слайде должны быть представлены этапы этих работ, заголовок следует уточнить как указано выше.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1000" i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1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ВАЖНО: </a:t>
            </a: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зависимости от того, к какой стадии проекта относятся работы и какие результаты ожидается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получить, в </a:t>
            </a: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составе работ должны быть предусмотрены </a:t>
            </a:r>
            <a:r>
              <a:rPr lang="ru-RU" sz="1000" b="1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обязательные типовые работы </a:t>
            </a:r>
            <a:r>
              <a:rPr lang="ru-RU" sz="100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(матрицу этих работ можно запросить через Руководителя ЦИП в ДНТРиИ) и, соответственно, стоимость работ</a:t>
            </a:r>
            <a:r>
              <a:rPr lang="ru-RU" sz="1000" i="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должна быть определена с учетом таких работ.</a:t>
            </a:r>
            <a:endParaRPr lang="ru-RU" sz="1000" i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1000" b="1" i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17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0"/>
              </a:spcBef>
              <a:buNone/>
              <a:defRPr lang="ru-RU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219" indent="-292219"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0" y="760876"/>
            <a:ext cx="9144000" cy="0"/>
          </a:xfrm>
          <a:prstGeom prst="line">
            <a:avLst/>
          </a:prstGeom>
          <a:ln w="31750">
            <a:solidFill>
              <a:srgbClr val="FED2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G:\!!!work\Роснефть\!rosneft-pack\Временные\znak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123478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0"/>
              </a:spcBef>
              <a:buNone/>
              <a:defRPr lang="ru-RU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6902" y="978571"/>
            <a:ext cx="4043428" cy="3616172"/>
          </a:xfrm>
        </p:spPr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3670" y="978571"/>
            <a:ext cx="4043428" cy="3616172"/>
          </a:xfrm>
        </p:spPr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>
            <a:off x="0" y="760876"/>
            <a:ext cx="9144000" cy="0"/>
          </a:xfrm>
          <a:prstGeom prst="line">
            <a:avLst/>
          </a:prstGeom>
          <a:ln w="31750">
            <a:solidFill>
              <a:srgbClr val="FED2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G:\!!!work\Роснефть\!rosneft-pack\Временные\znak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123478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0"/>
              </a:spcBef>
              <a:buNone/>
              <a:defRPr lang="ru-RU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6902" y="878997"/>
            <a:ext cx="4040442" cy="348508"/>
          </a:xfrm>
          <a:solidFill>
            <a:srgbClr val="FED208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6902" y="1376866"/>
            <a:ext cx="4040442" cy="3217877"/>
          </a:xfrm>
        </p:spPr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l" defTabSz="779252" rtl="0" eaLnBrk="1" latinLnBrk="0" hangingPunct="1">
              <a:spcBef>
                <a:spcPct val="20000"/>
              </a:spcBef>
              <a:defRPr lang="ru-RU" sz="10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164" y="878998"/>
            <a:ext cx="4041934" cy="348507"/>
          </a:xfrm>
          <a:solidFill>
            <a:srgbClr val="FED208"/>
          </a:solidFill>
        </p:spPr>
        <p:txBody>
          <a:bodyPr rtlCol="0" anchor="ctr" anchorCtr="1">
            <a:normAutofit/>
          </a:bodyPr>
          <a:lstStyle>
            <a:lvl1pPr marL="0" indent="0">
              <a:buNone/>
              <a:defRPr lang="ru-RU" sz="1200" b="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164" y="1376866"/>
            <a:ext cx="4041934" cy="3217877"/>
          </a:xfrm>
        </p:spPr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l" defTabSz="779252" rtl="0" eaLnBrk="1" latinLnBrk="0" hangingPunct="1">
              <a:spcBef>
                <a:spcPct val="20000"/>
              </a:spcBef>
              <a:defRPr lang="ru-RU" sz="1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0" y="760876"/>
            <a:ext cx="9144000" cy="0"/>
          </a:xfrm>
          <a:prstGeom prst="line">
            <a:avLst/>
          </a:prstGeom>
          <a:ln w="31750">
            <a:solidFill>
              <a:srgbClr val="FED2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G:\!!!work\Роснефть\!rosneft-pack\Временные\znak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123478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51521" y="132195"/>
            <a:ext cx="7948840" cy="448082"/>
          </a:xfrm>
        </p:spPr>
        <p:txBody>
          <a:bodyPr rtlCol="0">
            <a:normAutofit/>
          </a:bodyPr>
          <a:lstStyle>
            <a:lvl1pPr algn="l" defTabSz="779252" rtl="0" eaLnBrk="1" latinLnBrk="0" hangingPunct="1">
              <a:spcBef>
                <a:spcPct val="0"/>
              </a:spcBef>
              <a:buNone/>
              <a:defRPr lang="ru-RU" sz="2000" b="1" kern="120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0" y="760876"/>
            <a:ext cx="9144000" cy="0"/>
          </a:xfrm>
          <a:prstGeom prst="line">
            <a:avLst/>
          </a:prstGeom>
          <a:ln w="31750">
            <a:solidFill>
              <a:srgbClr val="FED2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G:\!!!work\Роснефть\!rosneft-pack\Временные\znak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123478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rtlCol="0">
            <a:normAutofit/>
          </a:bodyPr>
          <a:lstStyle>
            <a:lvl1pPr marL="292219" indent="-292219" algn="l" defTabSz="779252" rtl="0" eaLnBrk="1" latinLnBrk="0" hangingPunct="1">
              <a:spcBef>
                <a:spcPct val="20000"/>
              </a:spcBef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defRPr lang="ru-RU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779252" rtl="0" eaLnBrk="1" latinLnBrk="0" hangingPunct="1">
              <a:spcBef>
                <a:spcPct val="20000"/>
              </a:spcBef>
              <a:defRPr lang="ru-RU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l" defTabSz="779252" rtl="0" eaLnBrk="1" latinLnBrk="0" hangingPunct="1">
              <a:spcBef>
                <a:spcPct val="20000"/>
              </a:spcBef>
              <a:defRPr lang="ru-RU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l" defTabSz="779252" rtl="0" eaLnBrk="1" latinLnBrk="0" hangingPunct="1">
              <a:spcBef>
                <a:spcPct val="20000"/>
              </a:spcBef>
              <a:defRPr lang="ru-RU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l" defTabSz="779252" rtl="0" eaLnBrk="1" latinLnBrk="0" hangingPunct="1">
              <a:spcBef>
                <a:spcPct val="20000"/>
              </a:spcBef>
              <a:defRPr lang="ru-RU" sz="14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0" y="760876"/>
            <a:ext cx="9144000" cy="0"/>
          </a:xfrm>
          <a:prstGeom prst="line">
            <a:avLst/>
          </a:prstGeom>
          <a:ln w="31750">
            <a:solidFill>
              <a:srgbClr val="FED2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G:\!!!work\Роснефть\!rosneft-pack\Временные\znak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123478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1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107950" y="4839920"/>
            <a:ext cx="2895600" cy="25003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z="6375">
                <a:solidFill>
                  <a:srgbClr val="808080"/>
                </a:solidFill>
              </a:rPr>
              <a:t>‹4›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1"/>
          </p:nvPr>
        </p:nvSpPr>
        <p:spPr>
          <a:xfrm>
            <a:off x="457200" y="4767281"/>
            <a:ext cx="2133600" cy="27384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srgbClr val="808080"/>
                </a:solidFill>
              </a:rPr>
              <a:t>Дата и время шрифт Arial (10 pt)</a:t>
            </a:r>
          </a:p>
        </p:txBody>
      </p:sp>
    </p:spTree>
    <p:extLst>
      <p:ext uri="{BB962C8B-B14F-4D97-AF65-F5344CB8AC3E}">
        <p14:creationId xmlns:p14="http://schemas.microsoft.com/office/powerpoint/2010/main" val="408534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34260-197F-416F-A695-820619115EA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96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34260-197F-416F-A695-820619115EA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46763" y="253640"/>
            <a:ext cx="76605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7444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763" y="253640"/>
            <a:ext cx="76605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34260-197F-416F-A695-820619115EA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34260-197F-416F-A695-820619115EA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187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lang="ru-RU" sz="135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en-US" dirty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C1639-53A2-462C-9024-C2CB3FFCC09D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146A7-256C-49F9-B4EF-C3D0672ED386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893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lang="ru-RU" sz="135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6902" y="978571"/>
            <a:ext cx="4043428" cy="3616172"/>
          </a:xfrm>
        </p:spPr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3670" y="978571"/>
            <a:ext cx="4043428" cy="3616172"/>
          </a:xfrm>
        </p:spPr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5CDEB-F8FD-4EEB-AE1B-0D33C2A77758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367DC-A72E-404B-B996-9A4CEB3D18F6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255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lang="ru-RU" sz="135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6902" y="879015"/>
            <a:ext cx="4040442" cy="348508"/>
          </a:xfrm>
          <a:solidFill>
            <a:srgbClr val="6B6B6B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050" b="0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6902" y="1376866"/>
            <a:ext cx="4040442" cy="3217877"/>
          </a:xfrm>
        </p:spPr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164" y="878998"/>
            <a:ext cx="4041934" cy="348507"/>
          </a:xfrm>
          <a:solidFill>
            <a:srgbClr val="6B6B6B"/>
          </a:solidFill>
        </p:spPr>
        <p:txBody>
          <a:bodyPr rtlCol="0" anchor="ctr" anchorCtr="1">
            <a:normAutofit/>
          </a:bodyPr>
          <a:lstStyle>
            <a:lvl1pPr marL="0" indent="0">
              <a:buNone/>
              <a:defRPr lang="ru-RU" sz="1050" b="0" kern="1200" smtClean="0">
                <a:solidFill>
                  <a:schemeClr val="bg1"/>
                </a:solidFill>
                <a:latin typeface="Europe" pitchFamily="50" charset="-52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164" y="1376866"/>
            <a:ext cx="4041934" cy="3217877"/>
          </a:xfrm>
        </p:spPr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685800" rtl="0" eaLnBrk="1" latinLnBrk="0" hangingPunct="1">
              <a:spcBef>
                <a:spcPct val="20000"/>
              </a:spcBef>
              <a:defRPr lang="ru-RU" sz="9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BF96D-3B35-40B6-826D-419D8A911329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B7DB6-019F-480D-96E1-7F0656BD0952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566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6911" y="132197"/>
            <a:ext cx="7743459" cy="448082"/>
          </a:xfrm>
        </p:spPr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lang="ru-RU" sz="1350" kern="120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A996BE-E6C8-463C-872F-4D5C435CBC75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EFF20-9F65-4795-92B7-B2A745302438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23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kumimoji="0" lang="ru-RU" sz="135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64A"/>
                </a:solidFill>
                <a:effectLst/>
                <a:uLnTx/>
                <a:uFillTx/>
                <a:latin typeface="Europe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rtlCol="0"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685800" rtl="0" eaLnBrk="1" latinLnBrk="0" hangingPunct="1">
              <a:spcBef>
                <a:spcPct val="20000"/>
              </a:spcBef>
              <a:defRPr lang="ru-RU" sz="9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41B85-2829-4127-9BBD-8229E77A6207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BEEE0-1B09-418F-BBE3-BDA42DF059B1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951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48548-C86E-4DE2-9521-A687683726D4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241FC-620E-4B9F-AC82-898CE14FC30D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235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n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D1E7D1-533E-4378-BE09-2936213F9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056" y="276225"/>
            <a:ext cx="758954" cy="2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88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B8CB031D-EF81-4195-93DF-41B0CBE94B2F}" type="datetimeFigureOut">
              <a:rPr lang="ru-RU" sz="1350" smtClean="0">
                <a:solidFill>
                  <a:prstClr val="black"/>
                </a:solidFill>
                <a:latin typeface="Calibri" panose="020F0502020204030204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18.09.2026</a:t>
            </a:fld>
            <a:endParaRPr lang="ru-RU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C7F00F5-5EE6-472A-8470-AF62E67671A6}" type="slidenum">
              <a:rPr lang="ru-RU" sz="1350" smtClean="0">
                <a:solidFill>
                  <a:prstClr val="black"/>
                </a:solidFill>
                <a:latin typeface="Calibri" panose="020F0502020204030204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9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251520" y="132160"/>
            <a:ext cx="7948772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заголовка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928688"/>
            <a:ext cx="8229600" cy="366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841878" y="5007019"/>
            <a:ext cx="29837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D146A7-256C-49F9-B4EF-C3D0672ED38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5" r:id="rId2"/>
    <p:sldLayoutId id="2147483674" r:id="rId3"/>
    <p:sldLayoutId id="2147483673" r:id="rId4"/>
    <p:sldLayoutId id="2147483672" r:id="rId5"/>
    <p:sldLayoutId id="2147483671" r:id="rId6"/>
    <p:sldLayoutId id="2147483689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5pPr>
      <a:lvl6pPr marL="389626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6pPr>
      <a:lvl7pPr marL="779252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7pPr>
      <a:lvl8pPr marL="1168878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8pPr>
      <a:lvl9pPr marL="1558503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9pPr>
    </p:titleStyle>
    <p:bodyStyle>
      <a:lvl1pPr marL="292219" indent="-292219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9"/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3142" indent="-243516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120000"/>
        <a:buFont typeface="Arial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74065" indent="-194813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96000"/>
        <a:buFont typeface="Wingdings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63690" indent="-1948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53316" indent="-194813" algn="l" rtl="0" eaLnBrk="0" fontAlgn="base" hangingPunct="0">
        <a:spcBef>
          <a:spcPct val="20000"/>
        </a:spcBef>
        <a:spcAft>
          <a:spcPct val="0"/>
        </a:spcAft>
        <a:buFont typeface="Arial" charset="0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42942" indent="-194813" algn="l" defTabSz="77925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568" indent="-194813" algn="l" defTabSz="77925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194" indent="-194813" algn="l" defTabSz="77925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820" indent="-194813" algn="l" defTabSz="77925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26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52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78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503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129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755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381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7007" algn="l" defTabSz="7792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363824" y="0"/>
            <a:ext cx="4781550" cy="5143500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5688" y="4731990"/>
            <a:ext cx="468312" cy="274637"/>
          </a:xfrm>
          <a:prstGeom prst="rect">
            <a:avLst/>
          </a:prstGeom>
          <a:solidFill>
            <a:srgbClr val="FED208"/>
          </a:solidFill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34260-197F-416F-A695-820619115EAC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0"/>
            <a:ext cx="7560840" cy="249492"/>
          </a:xfrm>
          <a:prstGeom prst="rect">
            <a:avLst/>
          </a:prstGeom>
          <a:solidFill>
            <a:srgbClr val="FED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9" name="Picture 2" descr="G:\!!!work\Роснефть\!rosneft-pack\Временные\znak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116" y="216267"/>
            <a:ext cx="328486" cy="45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"/>
          <p:cNvSpPr txBox="1">
            <a:spLocks/>
          </p:cNvSpPr>
          <p:nvPr userDrawn="1"/>
        </p:nvSpPr>
        <p:spPr>
          <a:xfrm>
            <a:off x="446763" y="253640"/>
            <a:ext cx="76605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8807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FED208"/>
        </a:buClr>
        <a:buFont typeface="Wingdings 3" panose="05040102010807070707" pitchFamily="18" charset="2"/>
        <a:buChar char="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ED20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ED208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FED208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FED208"/>
        </a:buClr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466" y="1191"/>
          <a:ext cx="1466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" name="Слайд think-cell" r:id="rId12" imgW="344" imgH="344" progId="TCLayout.ActiveDocument.1">
                  <p:embed/>
                </p:oleObj>
              </mc:Choice>
              <mc:Fallback>
                <p:oleObj name="Слайд think-cell" r:id="rId12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66" y="1191"/>
                        <a:ext cx="1466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46538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 dirty="0">
              <a:solidFill>
                <a:prstClr val="white"/>
              </a:solidFill>
              <a:latin typeface="Europe" pitchFamily="2" charset="0"/>
              <a:sym typeface="Europe" pitchFamily="2" charset="0"/>
            </a:endParaRPr>
          </a:p>
        </p:txBody>
      </p:sp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132160"/>
            <a:ext cx="7743092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r>
              <a:rPr lang="en-US"/>
              <a:t/>
            </a:r>
            <a:br>
              <a:rPr lang="en-US"/>
            </a:br>
            <a:r>
              <a:rPr lang="ru-RU"/>
              <a:t>презентации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928690"/>
            <a:ext cx="8229600" cy="366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81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  <a:latin typeface="Europe" pitchFamily="50" charset="-52"/>
                <a:cs typeface="+mn-cs"/>
              </a:defRPr>
            </a:lvl1pPr>
          </a:lstStyle>
          <a:p>
            <a:pPr>
              <a:defRPr/>
            </a:pPr>
            <a:fld id="{956FAC67-2878-4E8B-A0D2-AA6F533D00D3}" type="datetime1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81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  <a:latin typeface="Europe" pitchFamily="50" charset="-52"/>
                <a:cs typeface="+mn-cs"/>
              </a:defRPr>
            </a:lvl1pPr>
          </a:lstStyle>
          <a:p>
            <a:pPr>
              <a:defRPr/>
            </a:pPr>
            <a:fld id="{54B471EF-1928-48DE-A04F-FCDB823EC217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2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3D464A"/>
          </a:solidFill>
          <a:latin typeface="Europe" pitchFamily="50" charset="-5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5pPr>
      <a:lvl6pPr marL="3429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6pPr>
      <a:lvl7pPr marL="6858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7pPr>
      <a:lvl8pPr marL="10287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8pPr>
      <a:lvl9pPr marL="13716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900" kern="1200">
          <a:solidFill>
            <a:srgbClr val="3D464A"/>
          </a:solidFill>
          <a:latin typeface="Europe" pitchFamily="50" charset="-52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120000"/>
        <a:buFont typeface="Arial" charset="0"/>
        <a:buChar char="•"/>
        <a:defRPr sz="900" kern="1200">
          <a:solidFill>
            <a:srgbClr val="3D464A"/>
          </a:solidFill>
          <a:latin typeface="Europe" pitchFamily="50" charset="-52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96000"/>
        <a:buFont typeface="Wingdings" pitchFamily="2" charset="2"/>
        <a:buChar char="§"/>
        <a:defRPr sz="900" kern="1200">
          <a:solidFill>
            <a:srgbClr val="3D464A"/>
          </a:solidFill>
          <a:latin typeface="Europe" pitchFamily="50" charset="-52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900" kern="1200">
          <a:solidFill>
            <a:srgbClr val="3D464A"/>
          </a:solidFill>
          <a:latin typeface="Europe" pitchFamily="50" charset="-52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900" kern="1200">
          <a:solidFill>
            <a:srgbClr val="3D464A"/>
          </a:solidFill>
          <a:latin typeface="Europe" pitchFamily="50" charset="-52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52B5B2D2-F040-40CB-9916-8435755AC02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0800000" flipV="1">
            <a:off x="2482" y="4738501"/>
            <a:ext cx="405000" cy="405000"/>
          </a:xfrm>
          <a:prstGeom prst="rect">
            <a:avLst/>
          </a:prstGeom>
          <a:solidFill>
            <a:srgbClr val="FAD200"/>
          </a:solidFill>
          <a:ln w="9525" algn="ctr">
            <a:noFill/>
            <a:miter lim="800000"/>
            <a:headEnd/>
            <a:tailEnd/>
          </a:ln>
        </p:spPr>
        <p:txBody>
          <a:bodyPr wrap="none" lIns="73289" tIns="36645" rIns="73289" bIns="3664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BBD338F-8E09-4F68-B7E9-C207A2FDEA56}"/>
              </a:ext>
            </a:extLst>
          </p:cNvPr>
          <p:cNvSpPr txBox="1">
            <a:spLocks/>
          </p:cNvSpPr>
          <p:nvPr userDrawn="1"/>
        </p:nvSpPr>
        <p:spPr>
          <a:xfrm>
            <a:off x="27414" y="4815140"/>
            <a:ext cx="346616" cy="27384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7210A0DD-03E8-418E-9CCE-E0D41FE630AA}" type="slidenum">
              <a:rPr lang="ru-RU" sz="1050" smtClean="0">
                <a:solidFill>
                  <a:prstClr val="white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1050" dirty="0">
              <a:solidFill>
                <a:prstClr val="white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B25DC2-89E6-4DD4-ADB1-08EC4727B5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056" y="276225"/>
            <a:ext cx="758954" cy="2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6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2" b="64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71F838-C4AB-4647-96A5-5A3465092A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355" cy="51435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771801" y="0"/>
            <a:ext cx="3453210" cy="3435846"/>
          </a:xfrm>
          <a:prstGeom prst="rect">
            <a:avLst/>
          </a:prstGeom>
          <a:solidFill>
            <a:srgbClr val="FED10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4130094" y="318498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b="1" dirty="0">
                <a:solidFill>
                  <a:srgbClr val="221E20"/>
                </a:solidFill>
                <a:ea typeface="Segoe UI Emoji" panose="020B0502040204020203" pitchFamily="34" charset="0"/>
              </a:rPr>
              <a:t>МЕСЯЦ 202_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2948" y="1596881"/>
            <a:ext cx="330891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НАУЧНО-ТЕХНИЧЕСКИЙ СОВЕТ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845" y="871505"/>
            <a:ext cx="976312" cy="6465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00803" y="1938837"/>
            <a:ext cx="33952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Секция по технологиям разведки и добычи нефти и газа</a:t>
            </a:r>
          </a:p>
          <a:p>
            <a:pPr algn="ctr"/>
            <a:endParaRPr lang="ru-RU" sz="1000" b="1" dirty="0">
              <a:solidFill>
                <a:srgbClr val="221E2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ru-RU" sz="13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Секция по технологиям переработки нефти и газа и нефтегазохимии</a:t>
            </a:r>
          </a:p>
        </p:txBody>
      </p:sp>
    </p:spTree>
    <p:extLst>
      <p:ext uri="{BB962C8B-B14F-4D97-AF65-F5344CB8AC3E}">
        <p14:creationId xmlns:p14="http://schemas.microsoft.com/office/powerpoint/2010/main" val="27229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" y="0"/>
            <a:ext cx="9143355" cy="514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40EF2A-90D1-4D37-AE05-D367E0B37D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" y="0"/>
            <a:ext cx="9143355" cy="51435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915816" y="-11006"/>
            <a:ext cx="3306019" cy="3299460"/>
          </a:xfrm>
          <a:prstGeom prst="rect">
            <a:avLst/>
          </a:prstGeom>
          <a:solidFill>
            <a:srgbClr val="FED10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2806938" y="1821228"/>
            <a:ext cx="35301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НАУЧНО-ТЕХНИЧЕСКИЙ СОВЕТ</a:t>
            </a:r>
          </a:p>
          <a:p>
            <a:pPr algn="ctr"/>
            <a:endParaRPr lang="ru-RU" sz="1500" b="1" dirty="0">
              <a:solidFill>
                <a:srgbClr val="221E2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Секция по технологиям разведки</a:t>
            </a:r>
          </a:p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 добычи нефти и газа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845" y="871505"/>
            <a:ext cx="976312" cy="6465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30094" y="290924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b="1" dirty="0">
                <a:solidFill>
                  <a:srgbClr val="221E20"/>
                </a:solidFill>
                <a:ea typeface="Segoe UI Emoji" panose="020B0502040204020203" pitchFamily="34" charset="0"/>
              </a:rPr>
              <a:t>МЕСЯЦ 202_ </a:t>
            </a:r>
          </a:p>
        </p:txBody>
      </p:sp>
    </p:spTree>
    <p:extLst>
      <p:ext uri="{BB962C8B-B14F-4D97-AF65-F5344CB8AC3E}">
        <p14:creationId xmlns:p14="http://schemas.microsoft.com/office/powerpoint/2010/main" val="338889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"/>
            <a:ext cx="9144000" cy="51427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0FD2EE-7209-4049-A8B0-AB6D3ABA3C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" y="0"/>
            <a:ext cx="9143355" cy="51435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918991" y="0"/>
            <a:ext cx="3306019" cy="3299460"/>
          </a:xfrm>
          <a:prstGeom prst="rect">
            <a:avLst/>
          </a:prstGeom>
          <a:solidFill>
            <a:srgbClr val="FED10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845" y="871505"/>
            <a:ext cx="976312" cy="6465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40665" y="1685253"/>
            <a:ext cx="330891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НАУЧНО-ТЕХНИЧЕСКИЙ СОВЕТ</a:t>
            </a:r>
          </a:p>
          <a:p>
            <a:pPr algn="ctr"/>
            <a:endParaRPr lang="ru-RU" sz="1500" b="1" dirty="0">
              <a:solidFill>
                <a:srgbClr val="221E2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Секция по технологиям</a:t>
            </a:r>
          </a:p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переработки нефти и газа</a:t>
            </a:r>
          </a:p>
          <a:p>
            <a:pPr algn="ctr"/>
            <a:r>
              <a:rPr lang="ru-RU" sz="1500" b="1" dirty="0">
                <a:solidFill>
                  <a:srgbClr val="221E2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 нефтегазохимии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0094" y="298475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b="1" dirty="0">
                <a:solidFill>
                  <a:srgbClr val="221E20"/>
                </a:solidFill>
                <a:ea typeface="Segoe UI Emoji" panose="020B0502040204020203" pitchFamily="34" charset="0"/>
              </a:rPr>
              <a:t>МЕСЯЦ 202_ </a:t>
            </a:r>
          </a:p>
        </p:txBody>
      </p:sp>
    </p:spTree>
    <p:extLst>
      <p:ext uri="{BB962C8B-B14F-4D97-AF65-F5344CB8AC3E}">
        <p14:creationId xmlns:p14="http://schemas.microsoft.com/office/powerpoint/2010/main" val="114517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11560" y="1925419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779252" fontAlgn="auto">
              <a:spcAft>
                <a:spcPts val="0"/>
              </a:spcAft>
              <a:defRPr/>
            </a:pPr>
            <a:r>
              <a:rPr lang="ru-RU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Дополнительные слайды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44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07504" y="21372"/>
            <a:ext cx="7950200" cy="44926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Место предлагаемой инициативы относительно текущих и перспективных мировых разработок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15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107504" y="130731"/>
            <a:ext cx="7776864" cy="43204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Резюме ЦИП </a:t>
            </a:r>
            <a:r>
              <a:rPr lang="ru-RU" sz="2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(или дополнительных работ по ЦИП)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 bwMode="auto">
          <a:xfrm>
            <a:off x="395536" y="1059583"/>
            <a:ext cx="8208912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t" anchorCtr="0" compatLnSpc="1">
            <a:prstTxWarp prst="textNoShape">
              <a:avLst/>
            </a:prstTxWarp>
          </a:bodyPr>
          <a:lstStyle>
            <a:lvl1pPr marL="292219" indent="-29221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3142" indent="-24351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20000"/>
              <a:buFont typeface="Arial" charset="0"/>
              <a:buChar char="•"/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74065" indent="-1948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96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3690" indent="-1948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53316" indent="-1948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142942" indent="-194813" algn="l" defTabSz="779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568" indent="-194813" algn="l" defTabSz="779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22194" indent="-194813" algn="l" defTabSz="779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1820" indent="-194813" algn="l" defTabSz="779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266700">
              <a:buNone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	Суть </a:t>
            </a: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(дополнительных)</a:t>
            </a:r>
            <a:r>
              <a:rPr lang="ru-RU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работ по ЦИП</a:t>
            </a:r>
          </a:p>
          <a:p>
            <a:pPr marL="292219" marR="0" lvl="0" indent="-292219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  <a:p>
            <a:pPr marL="0" lvl="0" indent="0">
              <a:buNone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    Новизна </a:t>
            </a: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(дополнительных)</a:t>
            </a:r>
            <a:r>
              <a:rPr lang="ru-RU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работ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92219" marR="0" lvl="0" indent="-292219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  <a:p>
            <a:pPr marL="0" marR="0" lvl="0" indent="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Ожидаемый конкретный результат ЦИП </a:t>
            </a: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(или дополнительных работ)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92219" marR="0" lvl="0" indent="-292219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…	</a:t>
            </a:r>
          </a:p>
          <a:p>
            <a:pPr marL="0" marR="0" lvl="0" indent="0" algn="l" defTabSz="266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	Область применения ожидаемого результата</a:t>
            </a:r>
          </a:p>
          <a:p>
            <a:pPr marL="292219" marR="0" lvl="0" indent="-292219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  <a:p>
            <a:pPr marL="0" marR="0" lvl="0" indent="0" algn="l" defTabSz="266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	Потенциальные объекты внедрения ожидаемого результата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  <a:p>
            <a:pPr marL="292219" marR="0" lvl="0" indent="-292219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D208"/>
              </a:buClr>
              <a:buSzPct val="100000"/>
              <a:buFont typeface="Wingdings 3" panose="05040102010807070707" pitchFamily="18" charset="2"/>
              <a:buChar char="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...</a:t>
            </a:r>
          </a:p>
          <a:p>
            <a:pPr marL="0" indent="269875" defTabSz="914400">
              <a:buFont typeface="Wingdings 3" panose="05040102010807070707" pitchFamily="18" charset="2"/>
              <a:buNone/>
            </a:pPr>
            <a:r>
              <a:rPr lang="ru-RU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Ожидаемый эффект от внедрения результата</a:t>
            </a:r>
            <a:r>
              <a:rPr lang="ru-RU" sz="1400" baseline="300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  <a:p>
            <a:r>
              <a:rPr lang="ru-RU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48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07504" y="36064"/>
            <a:ext cx="8281988" cy="6263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Анализ рынка на предмет востребованности</a:t>
            </a:r>
            <a:b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разрабатываемой(ого, </a:t>
            </a:r>
            <a:r>
              <a:rPr lang="ru-RU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ых</a:t>
            </a:r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) ____________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323528" y="1203598"/>
          <a:ext cx="8424936" cy="2021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Объект внедрения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_______</a:t>
                      </a:r>
                    </a:p>
                    <a:p>
                      <a:pPr algn="ctr"/>
                      <a:r>
                        <a:rPr lang="ru-RU" sz="1000" b="0" i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(наименование </a:t>
                      </a:r>
                      <a:r>
                        <a:rPr lang="ru-RU" sz="1000" b="0" i="1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ожид</a:t>
                      </a:r>
                      <a:r>
                        <a:rPr lang="ru-RU" sz="1000" b="0" i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результата)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_______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(наименование </a:t>
                      </a:r>
                      <a:r>
                        <a:rPr kumimoji="0" lang="ru-RU" sz="1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ожид</a:t>
                      </a:r>
                      <a:r>
                        <a:rPr kumimoji="0" lang="ru-RU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результата)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_______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(наименование </a:t>
                      </a:r>
                      <a:r>
                        <a:rPr kumimoji="0" lang="ru-RU" sz="1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ожид</a:t>
                      </a:r>
                      <a:r>
                        <a:rPr kumimoji="0" lang="ru-RU" sz="1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результата)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868">
                <a:tc gridSpan="4">
                  <a:txBody>
                    <a:bodyPr/>
                    <a:lstStyle/>
                    <a:p>
                      <a:endParaRPr lang="ru-RU" sz="1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0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0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ЦАУК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88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88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КНИПИ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33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31763"/>
            <a:ext cx="7950200" cy="44926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Сравнение альтернативных вариантов</a:t>
            </a:r>
          </a:p>
        </p:txBody>
      </p:sp>
      <p:graphicFrame>
        <p:nvGraphicFramePr>
          <p:cNvPr id="6" name="Содержимое 11"/>
          <p:cNvGraphicFramePr>
            <a:graphicFrameLocks/>
          </p:cNvGraphicFramePr>
          <p:nvPr/>
        </p:nvGraphicFramePr>
        <p:xfrm>
          <a:off x="107504" y="949733"/>
          <a:ext cx="8856985" cy="2957892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40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Вариант</a:t>
                      </a:r>
                    </a:p>
                  </a:txBody>
                  <a:tcPr marL="102425" marR="102425" marT="43623" marB="43623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Плюсы</a:t>
                      </a:r>
                    </a:p>
                  </a:txBody>
                  <a:tcPr marL="102425" marR="102425" marT="43623" marB="43623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Минусы</a:t>
                      </a:r>
                    </a:p>
                  </a:txBody>
                  <a:tcPr marL="102425" marR="102425" marT="43623" marB="43623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Показатель</a:t>
                      </a:r>
                      <a:endParaRPr kumimoji="0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2425" marR="102425" marT="43623" marB="43623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Показатель</a:t>
                      </a:r>
                      <a:endParaRPr kumimoji="0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2425" marR="102425" marT="43623" marB="43623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Ключевые/Критические отклонения (</a:t>
                      </a:r>
                      <a:r>
                        <a:rPr kumimoji="0" lang="ru-RU" sz="11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накопл</a:t>
                      </a: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.)</a:t>
                      </a:r>
                      <a:r>
                        <a:rPr kumimoji="0" lang="ru-RU" sz="1100" b="1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kumimoji="0" lang="en-US" sz="1100" b="1" i="0" u="none" strike="noStrike" kern="1200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2425" marR="102425" marT="43623" marB="43623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">
                <a:tc gridSpan="5">
                  <a:txBody>
                    <a:bodyPr/>
                    <a:lstStyle/>
                    <a:p>
                      <a:endParaRPr lang="ru-RU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0936" marR="100936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20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0936" marR="100936" marT="0" marB="0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2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Рекомендуемый вариант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905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7145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1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Альтернатива 1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7145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3D464A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905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….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Альтернатива 2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905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905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D464A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D464A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…</a:t>
                      </a:r>
                      <a:endParaRPr kumimoji="0" 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3D464A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2421" marR="102421" marT="43612" marB="43612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Содержимое 2"/>
          <p:cNvSpPr txBox="1">
            <a:spLocks/>
          </p:cNvSpPr>
          <p:nvPr/>
        </p:nvSpPr>
        <p:spPr bwMode="auto">
          <a:xfrm>
            <a:off x="107503" y="4011910"/>
            <a:ext cx="8856985" cy="612535"/>
          </a:xfrm>
          <a:prstGeom prst="rect">
            <a:avLst/>
          </a:prstGeom>
          <a:noFill/>
          <a:ln w="9525">
            <a:solidFill>
              <a:srgbClr val="F9D200"/>
            </a:solidFill>
            <a:miter lim="800000"/>
            <a:headEnd/>
            <a:tailEnd/>
          </a:ln>
        </p:spPr>
        <p:txBody>
          <a:bodyPr lIns="71785" tIns="71785" rIns="71785" bIns="71785">
            <a:noAutofit/>
          </a:bodyPr>
          <a:lstStyle>
            <a:defPPr>
              <a:defRPr lang="ru-RU"/>
            </a:defPPr>
            <a:lvl2pPr marL="0" lvl="1" algn="just" defTabSz="716998">
              <a:spcBef>
                <a:spcPts val="0"/>
              </a:spcBef>
              <a:spcAft>
                <a:spcPts val="300"/>
              </a:spcAft>
              <a:buClr>
                <a:srgbClr val="CC9900"/>
              </a:buClr>
              <a:tabLst>
                <a:tab pos="360875" algn="l"/>
              </a:tabLst>
              <a:defRPr sz="1000" b="1" u="sng">
                <a:solidFill>
                  <a:srgbClr val="3D464A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 fontAlgn="base">
              <a:buClr>
                <a:srgbClr val="606060"/>
              </a:buClr>
            </a:pPr>
            <a:r>
              <a:rPr lang="ru-RU" sz="1100" dirty="0"/>
              <a:t>Вывод:</a:t>
            </a:r>
          </a:p>
          <a:p>
            <a:pPr marL="179466" lvl="1" indent="-179466" fontAlgn="base">
              <a:spcAft>
                <a:spcPts val="200"/>
              </a:spcAft>
              <a:buClr>
                <a:srgbClr val="606060"/>
              </a:buClr>
              <a:buFont typeface="Wingdings" pitchFamily="2" charset="2"/>
              <a:buChar char="§"/>
              <a:defRPr/>
            </a:pPr>
            <a:r>
              <a:rPr lang="ru-RU" sz="1100" b="0" u="none" dirty="0"/>
              <a:t>…..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7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47360"/>
            <a:ext cx="8435102" cy="4476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ru-RU" sz="1900" b="1" dirty="0">
                <a:latin typeface="Segoe UI" panose="020B0502040204020203" pitchFamily="34" charset="0"/>
                <a:cs typeface="Segoe UI" panose="020B0502040204020203" pitchFamily="34" charset="0"/>
              </a:rPr>
              <a:t>Этапы </a:t>
            </a:r>
            <a:r>
              <a:rPr lang="ru-RU" sz="1900" b="1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(дополнительных)</a:t>
            </a:r>
            <a:r>
              <a:rPr lang="ru-RU" sz="1900" b="1" dirty="0">
                <a:latin typeface="Segoe UI" panose="020B0502040204020203" pitchFamily="34" charset="0"/>
                <a:cs typeface="Segoe UI" panose="020B0502040204020203" pitchFamily="34" charset="0"/>
              </a:rPr>
              <a:t> работ по ЦИП по стадиям</a:t>
            </a:r>
            <a:br>
              <a:rPr lang="ru-RU" sz="19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900" b="1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(в рамках стадии «_____»)</a:t>
            </a:r>
          </a:p>
        </p:txBody>
      </p:sp>
      <p:graphicFrame>
        <p:nvGraphicFramePr>
          <p:cNvPr id="4" name="Содержимое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140203"/>
              </p:ext>
            </p:extLst>
          </p:nvPr>
        </p:nvGraphicFramePr>
        <p:xfrm>
          <a:off x="179512" y="797349"/>
          <a:ext cx="8773896" cy="372449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2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2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50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20000"/>
                        </a:spcBef>
                        <a:buSzPct val="80000"/>
                        <a:buFontTx/>
                        <a:buNone/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№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20000"/>
                        </a:spcBef>
                        <a:buSzPct val="80000"/>
                        <a:buFontTx/>
                        <a:buNone/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Этап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Bef>
                          <a:spcPct val="20000"/>
                        </a:spcBef>
                        <a:buSzPct val="80000"/>
                        <a:buFontTx/>
                        <a:buNone/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Сроки выполнения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Стоимость,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тыс. руб. с/без НДС</a:t>
                      </a:r>
                      <a:endParaRPr kumimoji="0" 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6615" marR="16615" marT="13500" marB="13500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Ожидаемый результат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6615" marR="16615" marT="13500" marB="13500" anchor="ctr" horzOverflow="overflow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endParaRPr lang="ru-RU" sz="100" dirty="0">
                        <a:ln>
                          <a:solidFill>
                            <a:srgbClr val="BCBCBC"/>
                          </a:solidFill>
                        </a:ln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20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850">
                <a:tc gridSpan="5">
                  <a:txBody>
                    <a:bodyPr/>
                    <a:lstStyle/>
                    <a:p>
                      <a:pPr algn="l"/>
                      <a:r>
                        <a:rPr lang="ru-RU" sz="1200" b="1" i="1" kern="1200" dirty="0">
                          <a:solidFill>
                            <a:srgbClr val="3D464A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Стадия «исследование»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68">
                <a:tc>
                  <a:txBody>
                    <a:bodyPr/>
                    <a:lstStyle/>
                    <a:p>
                      <a:pPr algn="ctr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6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i="1" kern="1200" dirty="0">
                          <a:solidFill>
                            <a:srgbClr val="3D464A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Стадия «разработка»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9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61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i="1" kern="1200" dirty="0">
                          <a:solidFill>
                            <a:srgbClr val="3D464A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Стадия «испытания»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0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200" kern="1200" dirty="0">
                        <a:solidFill>
                          <a:srgbClr val="3D464A"/>
                        </a:solidFill>
                        <a:latin typeface="Segoe UI" panose="020B0502040204020203" pitchFamily="34" charset="0"/>
                        <a:ea typeface="+mj-ea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ИТОГО:</a:t>
                      </a: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6005" marR="86005" marT="31863" marB="31863" anchor="ctr">
                    <a:lnL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794034" y="662424"/>
            <a:ext cx="1413986" cy="39788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7446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0Us0lU8zQHNB9JREFg_Q"/>
</p:tagLst>
</file>

<file path=ppt/theme/theme1.xml><?xml version="1.0" encoding="utf-8"?>
<a:theme xmlns:a="http://schemas.openxmlformats.org/drawingml/2006/main" name="внутренний слайд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внутренний слайд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snef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Shablon_europe</Template>
  <TotalTime>7394</TotalTime>
  <Words>718</Words>
  <Application>Microsoft Office PowerPoint</Application>
  <PresentationFormat>Экран (16:9)</PresentationFormat>
  <Paragraphs>109</Paragraphs>
  <Slides>9</Slides>
  <Notes>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4" baseType="lpstr">
      <vt:lpstr>Arial</vt:lpstr>
      <vt:lpstr>Calibri</vt:lpstr>
      <vt:lpstr>Calibri Light</vt:lpstr>
      <vt:lpstr>Europe</vt:lpstr>
      <vt:lpstr>Segoe UI</vt:lpstr>
      <vt:lpstr>Segoe UI Black</vt:lpstr>
      <vt:lpstr>Segoe UI Emoji</vt:lpstr>
      <vt:lpstr>Tahoma</vt:lpstr>
      <vt:lpstr>Wingdings</vt:lpstr>
      <vt:lpstr>Wingdings 3</vt:lpstr>
      <vt:lpstr>внутренний слайд</vt:lpstr>
      <vt:lpstr>Специальное оформление</vt:lpstr>
      <vt:lpstr>2_внутренний слайд</vt:lpstr>
      <vt:lpstr>Rosneft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Место предлагаемой инициативы относительно текущих и перспективных мировых разработок</vt:lpstr>
      <vt:lpstr>Резюме ЦИП (или дополнительных работ по ЦИП)</vt:lpstr>
      <vt:lpstr>Анализ рынка на предмет востребованности разрабатываемой(ого, ых) ____________</vt:lpstr>
      <vt:lpstr>Сравнение альтернативных вариантов</vt:lpstr>
      <vt:lpstr>Этапы (дополнительных) работ по ЦИП по стадиям (в рамках стадии «_____»)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шрифт Europe 20 pt</dc:title>
  <dc:creator>vircat</dc:creator>
  <cp:lastModifiedBy>Шаронов Вениамин Евгеньевич</cp:lastModifiedBy>
  <cp:revision>451</cp:revision>
  <cp:lastPrinted>2024-10-16T11:53:06Z</cp:lastPrinted>
  <dcterms:created xsi:type="dcterms:W3CDTF">2012-04-25T13:09:23Z</dcterms:created>
  <dcterms:modified xsi:type="dcterms:W3CDTF">2026-09-18T06:52:19Z</dcterms:modified>
</cp:coreProperties>
</file>